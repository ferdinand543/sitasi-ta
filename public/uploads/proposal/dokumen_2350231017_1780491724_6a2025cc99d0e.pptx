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ppins Bold" charset="1" panose="00000800000000000000"/>
      <p:regular r:id="rId30"/>
    </p:embeddedFont>
    <p:embeddedFont>
      <p:font typeface="Montserrat Medium" charset="1" panose="00000600000000000000"/>
      <p:regular r:id="rId31"/>
    </p:embeddedFont>
    <p:embeddedFont>
      <p:font typeface="Montserrat Semi-Bold" charset="1" panose="00000700000000000000"/>
      <p:regular r:id="rId32"/>
    </p:embeddedFont>
    <p:embeddedFont>
      <p:font typeface="Montserrat Bold" charset="1" panose="000008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8468" y="1935438"/>
            <a:ext cx="5925311" cy="7021313"/>
            <a:chOff x="0" y="0"/>
            <a:chExt cx="688489" cy="815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8489" cy="815839"/>
            </a:xfrm>
            <a:custGeom>
              <a:avLst/>
              <a:gdLst/>
              <a:ahLst/>
              <a:cxnLst/>
              <a:rect r="r" b="b" t="t" l="l"/>
              <a:pathLst>
                <a:path h="815839" w="688489">
                  <a:moveTo>
                    <a:pt x="485289" y="0"/>
                  </a:moveTo>
                  <a:lnTo>
                    <a:pt x="0" y="0"/>
                  </a:lnTo>
                  <a:lnTo>
                    <a:pt x="203200" y="815839"/>
                  </a:lnTo>
                  <a:lnTo>
                    <a:pt x="688489" y="815839"/>
                  </a:lnTo>
                  <a:lnTo>
                    <a:pt x="485289" y="0"/>
                  </a:lnTo>
                  <a:close/>
                </a:path>
              </a:pathLst>
            </a:custGeom>
            <a:blipFill>
              <a:blip r:embed="rId2"/>
              <a:stretch>
                <a:fillRect l="0" t="-2173" r="0" b="-217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16166" y="1935438"/>
            <a:ext cx="5925311" cy="7021313"/>
            <a:chOff x="0" y="0"/>
            <a:chExt cx="688489" cy="8158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8489" cy="815839"/>
            </a:xfrm>
            <a:custGeom>
              <a:avLst/>
              <a:gdLst/>
              <a:ahLst/>
              <a:cxnLst/>
              <a:rect r="r" b="b" t="t" l="l"/>
              <a:pathLst>
                <a:path h="815839" w="688489">
                  <a:moveTo>
                    <a:pt x="485289" y="0"/>
                  </a:moveTo>
                  <a:lnTo>
                    <a:pt x="0" y="0"/>
                  </a:lnTo>
                  <a:lnTo>
                    <a:pt x="203200" y="815839"/>
                  </a:lnTo>
                  <a:lnTo>
                    <a:pt x="688489" y="815839"/>
                  </a:lnTo>
                  <a:lnTo>
                    <a:pt x="485289" y="0"/>
                  </a:lnTo>
                  <a:close/>
                </a:path>
              </a:pathLst>
            </a:custGeom>
            <a:blipFill>
              <a:blip r:embed="rId3"/>
              <a:stretch>
                <a:fillRect l="0" t="-2173" r="0" b="-217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12475" y="721771"/>
            <a:ext cx="4046825" cy="613859"/>
            <a:chOff x="0" y="0"/>
            <a:chExt cx="1065830" cy="161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5830" cy="161675"/>
            </a:xfrm>
            <a:custGeom>
              <a:avLst/>
              <a:gdLst/>
              <a:ahLst/>
              <a:cxnLst/>
              <a:rect r="r" b="b" t="t" l="l"/>
              <a:pathLst>
                <a:path h="161675" w="1065830">
                  <a:moveTo>
                    <a:pt x="80837" y="0"/>
                  </a:moveTo>
                  <a:lnTo>
                    <a:pt x="984993" y="0"/>
                  </a:lnTo>
                  <a:cubicBezTo>
                    <a:pt x="1006432" y="0"/>
                    <a:pt x="1026994" y="8517"/>
                    <a:pt x="1042154" y="23677"/>
                  </a:cubicBezTo>
                  <a:cubicBezTo>
                    <a:pt x="1057314" y="38837"/>
                    <a:pt x="1065830" y="59398"/>
                    <a:pt x="1065830" y="80837"/>
                  </a:cubicBezTo>
                  <a:lnTo>
                    <a:pt x="1065830" y="80837"/>
                  </a:lnTo>
                  <a:cubicBezTo>
                    <a:pt x="1065830" y="125483"/>
                    <a:pt x="1029638" y="161675"/>
                    <a:pt x="984993" y="161675"/>
                  </a:cubicBezTo>
                  <a:lnTo>
                    <a:pt x="80837" y="161675"/>
                  </a:lnTo>
                  <a:cubicBezTo>
                    <a:pt x="36192" y="161675"/>
                    <a:pt x="0" y="125483"/>
                    <a:pt x="0" y="80837"/>
                  </a:cubicBezTo>
                  <a:lnTo>
                    <a:pt x="0" y="80837"/>
                  </a:lnTo>
                  <a:cubicBezTo>
                    <a:pt x="0" y="36192"/>
                    <a:pt x="36192" y="0"/>
                    <a:pt x="80837" y="0"/>
                  </a:cubicBezTo>
                  <a:close/>
                </a:path>
              </a:pathLst>
            </a:custGeom>
            <a:ln w="38100" cap="rnd">
              <a:solidFill>
                <a:srgbClr val="1800A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65830" cy="199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09132" y="9874554"/>
            <a:ext cx="9010505" cy="824891"/>
            <a:chOff x="0" y="0"/>
            <a:chExt cx="2373137" cy="217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073077" y="-339932"/>
            <a:ext cx="9010505" cy="824891"/>
            <a:chOff x="0" y="0"/>
            <a:chExt cx="2373137" cy="217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656276" y="2313735"/>
            <a:ext cx="0" cy="6492240"/>
          </a:xfrm>
          <a:prstGeom prst="line">
            <a:avLst/>
          </a:prstGeom>
          <a:ln cap="flat" w="3810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075356" y="3984280"/>
            <a:ext cx="8878115" cy="29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5"/>
              </a:lnSpc>
            </a:pPr>
            <a:r>
              <a:rPr lang="en-US" b="true" sz="841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IMPLEMENTASI SIKLUS HIDUP DEVOPS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4451" y="6953838"/>
            <a:ext cx="314506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Laporan Tugas Cloud Computing, Kelompok 7 - Program Studi Sistem Informasi UJIAN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44451" y="8786925"/>
            <a:ext cx="35381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Divana, Devi, Raisa, Azizah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6585" y="1268281"/>
            <a:ext cx="2038063" cy="76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9"/>
              </a:lnSpc>
            </a:pPr>
            <a:r>
              <a:rPr lang="en-US" b="true" sz="25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Proyek KadoIn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44451" y="7649021"/>
            <a:ext cx="2475390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7"/>
              </a:lnSpc>
            </a:pPr>
            <a:r>
              <a:rPr lang="en-US" b="true" sz="1319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Dari Local Development Hingga Produksi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87184" y="752494"/>
            <a:ext cx="3497407" cy="49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</a:pPr>
            <a:r>
              <a:rPr lang="en-US" b="true" sz="2997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3493" y="2290047"/>
            <a:ext cx="5590037" cy="3086100"/>
            <a:chOff x="0" y="0"/>
            <a:chExt cx="147227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3493" y="5839932"/>
            <a:ext cx="5590037" cy="3086100"/>
            <a:chOff x="0" y="0"/>
            <a:chExt cx="147227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371759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442562" y="1236373"/>
            <a:ext cx="2778038" cy="1583481"/>
          </a:xfrm>
          <a:custGeom>
            <a:avLst/>
            <a:gdLst/>
            <a:ahLst/>
            <a:cxnLst/>
            <a:rect r="r" b="b" t="t" l="l"/>
            <a:pathLst>
              <a:path h="1583481" w="2778038">
                <a:moveTo>
                  <a:pt x="0" y="0"/>
                </a:moveTo>
                <a:lnTo>
                  <a:pt x="2778038" y="0"/>
                </a:lnTo>
                <a:lnTo>
                  <a:pt x="2778038" y="1583481"/>
                </a:lnTo>
                <a:lnTo>
                  <a:pt x="0" y="1583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83310" y="2975896"/>
            <a:ext cx="8668718" cy="22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54"/>
              </a:lnSpc>
            </a:pPr>
            <a:r>
              <a:rPr lang="en-US" b="true" sz="899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LATAR BELAKANG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83310" y="5587445"/>
            <a:ext cx="7132808" cy="103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Peran Cloud Computing dalam mendukung infrastruktur DevOps yang fleksibel dan skalabel untuk deployment aplikasi modern.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83310" y="6950348"/>
            <a:ext cx="7132808" cy="103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Tugas ini berfokus pada penerapan praktis DevOps dengan tools modern seperti GitHub Actions, VPS, dan Nginx.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14299" y="6861249"/>
            <a:ext cx="4828425" cy="173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DevOps mengintegrasikan tim Development dan Operations untuk mempercepat delivery software dengan kualitas tinggi dan konsisten.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14299" y="3318248"/>
            <a:ext cx="4828425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Perkembangan teknologi informasi menuntut integrasi yang seamless antara Development dan Operations untuk efisiensi maksimal.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14299" y="6272306"/>
            <a:ext cx="4828425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MENGAPA DEVOPS?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76583" y="2726466"/>
            <a:ext cx="5303857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TRANSFORMASI DIGITAL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890" y="1547460"/>
            <a:ext cx="6718673" cy="7496744"/>
            <a:chOff x="0" y="0"/>
            <a:chExt cx="780674" cy="871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5407" r="0" b="-54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583299" y="1547460"/>
            <a:ext cx="6718673" cy="7496744"/>
            <a:chOff x="0" y="0"/>
            <a:chExt cx="780674" cy="871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0" t="-5407" r="0" b="-540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330680" y="2295967"/>
            <a:ext cx="7630698" cy="231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41"/>
              </a:lnSpc>
            </a:pPr>
            <a:r>
              <a:rPr lang="en-US" b="true" sz="6214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RUMUSAN MASALAH &amp; TUJUAN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58187" y="5345423"/>
            <a:ext cx="6120009" cy="137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1093" indent="-170547" lvl="1">
              <a:lnSpc>
                <a:spcPts val="2211"/>
              </a:lnSpc>
              <a:buAutoNum type="arabicPeriod" startAt="1"/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Bagaimana menerapkan DevOps secara end-to-end?</a:t>
            </a:r>
          </a:p>
          <a:p>
            <a:pPr algn="just" marL="341093" indent="-170547" lvl="1">
              <a:lnSpc>
                <a:spcPts val="2211"/>
              </a:lnSpc>
              <a:buAutoNum type="arabicPeriod" startAt="1"/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Bagaimana konfigurasi VPS yang optimal?</a:t>
            </a:r>
          </a:p>
          <a:p>
            <a:pPr algn="just" marL="341093" indent="-170547" lvl="1">
              <a:lnSpc>
                <a:spcPts val="2211"/>
              </a:lnSpc>
              <a:buAutoNum type="arabicPeriod" startAt="1"/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Bagaimana membangun pipeline CI/CD?</a:t>
            </a:r>
          </a:p>
          <a:p>
            <a:pPr algn="just" marL="341093" indent="-170547" lvl="1">
              <a:lnSpc>
                <a:spcPts val="2211"/>
              </a:lnSpc>
              <a:buAutoNum type="arabicPeriod" startAt="1"/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Strategi branching yang efektif?</a:t>
            </a:r>
          </a:p>
          <a:p>
            <a:pPr algn="just" marL="341093" indent="-170547" lvl="1">
              <a:lnSpc>
                <a:spcPts val="2211"/>
              </a:lnSpc>
              <a:buAutoNum type="arabicPeriod" startAt="1"/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Bagaimana menghasilkan aplikasi berkualitas?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8187" y="7378211"/>
            <a:ext cx="6120009" cy="137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1"/>
              </a:lnSpc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Menerapkan DevOps end-to-end</a:t>
            </a:r>
          </a:p>
          <a:p>
            <a:pPr algn="l" marL="0" indent="0" lvl="0">
              <a:lnSpc>
                <a:spcPts val="2211"/>
              </a:lnSpc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Konfigurasi infrastruktur VPS</a:t>
            </a:r>
          </a:p>
          <a:p>
            <a:pPr algn="l" marL="0" indent="0" lvl="0">
              <a:lnSpc>
                <a:spcPts val="2211"/>
              </a:lnSpc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Membangun pipeline CI/CD otomatis</a:t>
            </a:r>
          </a:p>
          <a:p>
            <a:pPr algn="l" marL="0" indent="0" lvl="0">
              <a:lnSpc>
                <a:spcPts val="2211"/>
              </a:lnSpc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Implementasi strategi branching</a:t>
            </a:r>
          </a:p>
          <a:p>
            <a:pPr algn="l" marL="0" indent="0" lvl="0">
              <a:lnSpc>
                <a:spcPts val="2211"/>
              </a:lnSpc>
            </a:pPr>
            <a:r>
              <a:rPr lang="en-US" b="true" sz="157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Menghasilkan aplikasi berkualitas tinggi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97563" y="4923048"/>
            <a:ext cx="485902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RUMUSAN MASALAH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58187" y="7038845"/>
            <a:ext cx="4489459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TUJUAN PROYEK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054435" y="2908657"/>
            <a:ext cx="9770705" cy="4195592"/>
          </a:xfrm>
          <a:custGeom>
            <a:avLst/>
            <a:gdLst/>
            <a:ahLst/>
            <a:cxnLst/>
            <a:rect r="r" b="b" t="t" l="l"/>
            <a:pathLst>
              <a:path h="4195592" w="9770705">
                <a:moveTo>
                  <a:pt x="0" y="0"/>
                </a:moveTo>
                <a:lnTo>
                  <a:pt x="9770705" y="0"/>
                </a:lnTo>
                <a:lnTo>
                  <a:pt x="9770705" y="4195592"/>
                </a:lnTo>
                <a:lnTo>
                  <a:pt x="0" y="419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66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45311" y="2110361"/>
            <a:ext cx="6798689" cy="231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1"/>
              </a:lnSpc>
            </a:pPr>
            <a:r>
              <a:rPr lang="en-US" b="true" sz="6214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PROVISI &amp; KONFIGURASI VPS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5311" y="5217269"/>
            <a:ext cx="6134403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Hostname: tokokadoin.my.id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Paket: VPS Rumahweb M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OS: Ubuntu 22.04 LTS 64-bit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Lokasi: TechnoVillage Data Center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5311" y="7372808"/>
            <a:ext cx="6134403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IP Address IPv4 dan IPv6 telah dikonfigurasi untuk memastikan aksesibilitas server dari berbagai jaringan dan mendukung infrastruktur DevOps.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5069" y="6898808"/>
            <a:ext cx="4058558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KONFIGURASI JARINGAN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5069" y="4739787"/>
            <a:ext cx="42019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SPESIFIKASI SERVER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2015111"/>
            <a:ext cx="8115300" cy="3586055"/>
          </a:xfrm>
          <a:custGeom>
            <a:avLst/>
            <a:gdLst/>
            <a:ahLst/>
            <a:cxnLst/>
            <a:rect r="r" b="b" t="t" l="l"/>
            <a:pathLst>
              <a:path h="3586055" w="8115300">
                <a:moveTo>
                  <a:pt x="0" y="0"/>
                </a:moveTo>
                <a:lnTo>
                  <a:pt x="8115300" y="0"/>
                </a:lnTo>
                <a:lnTo>
                  <a:pt x="8115300" y="3586055"/>
                </a:lnTo>
                <a:lnTo>
                  <a:pt x="0" y="3586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28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5918295"/>
            <a:ext cx="7701863" cy="3639130"/>
          </a:xfrm>
          <a:custGeom>
            <a:avLst/>
            <a:gdLst/>
            <a:ahLst/>
            <a:cxnLst/>
            <a:rect r="r" b="b" t="t" l="l"/>
            <a:pathLst>
              <a:path h="3639130" w="7701863">
                <a:moveTo>
                  <a:pt x="0" y="0"/>
                </a:moveTo>
                <a:lnTo>
                  <a:pt x="7701863" y="0"/>
                </a:lnTo>
                <a:lnTo>
                  <a:pt x="7701863" y="3639130"/>
                </a:lnTo>
                <a:lnTo>
                  <a:pt x="0" y="3639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45311" y="2110361"/>
            <a:ext cx="6798689" cy="231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1"/>
              </a:lnSpc>
            </a:pPr>
            <a:r>
              <a:rPr lang="en-US" b="true" sz="6214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KONFIGURASI DOMAIN DAN DNS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5311" y="5198219"/>
            <a:ext cx="6134403" cy="13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Domain: tokokadoin.my.id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DNS Records: A Record untuk root (@) dan www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TTL: 3600 detik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DNS Manager: ArenHost/BusyRack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5311" y="7353758"/>
            <a:ext cx="6134403" cy="13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Setelah konfigurasi DNS selesai, propagasi memerlukan waktu hingga 24 jam untuk tersebar ke seluruh server DNS global sebelum domain dapat diakses.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5069" y="6898808"/>
            <a:ext cx="4058558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PROPAGASI DNS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5069" y="4739787"/>
            <a:ext cx="42019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DOMAIN &amp; DNS RECORDS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913049" y="4769480"/>
            <a:ext cx="7346251" cy="4334856"/>
          </a:xfrm>
          <a:custGeom>
            <a:avLst/>
            <a:gdLst/>
            <a:ahLst/>
            <a:cxnLst/>
            <a:rect r="r" b="b" t="t" l="l"/>
            <a:pathLst>
              <a:path h="4334856" w="7346251">
                <a:moveTo>
                  <a:pt x="0" y="0"/>
                </a:moveTo>
                <a:lnTo>
                  <a:pt x="7346251" y="0"/>
                </a:lnTo>
                <a:lnTo>
                  <a:pt x="7346251" y="4334855"/>
                </a:lnTo>
                <a:lnTo>
                  <a:pt x="0" y="4334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834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45311" y="2110361"/>
            <a:ext cx="6798689" cy="231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1"/>
              </a:lnSpc>
            </a:pPr>
            <a:r>
              <a:rPr lang="en-US" b="true" sz="6214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VERIFIKASI KONEKSI DAN WEB SERVER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5311" y="5217269"/>
            <a:ext cx="6134403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curl -I https://tokokadoin.my.id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Response: HTTP/1.1 200 OK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Server: nginx/1.18.0 (Ubuntu)</a:t>
            </a:r>
          </a:p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Connection: keep-alive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5311" y="7372808"/>
            <a:ext cx="6134403" cy="173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Status koneksi berhasil dengan response HTTP 200 OK. Web server nginx/1.18.0 berjalan dengan baik pada VPS Ubuntu. Testing dilakukan untuk memastikan domain dan server aktif.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5069" y="6898808"/>
            <a:ext cx="4058558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HASIL VERIFIKASI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5069" y="4739787"/>
            <a:ext cx="42019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COMMAND TESTING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92438" y="4777887"/>
            <a:ext cx="8456139" cy="3705077"/>
          </a:xfrm>
          <a:custGeom>
            <a:avLst/>
            <a:gdLst/>
            <a:ahLst/>
            <a:cxnLst/>
            <a:rect r="r" b="b" t="t" l="l"/>
            <a:pathLst>
              <a:path h="3705077" w="8456139">
                <a:moveTo>
                  <a:pt x="0" y="0"/>
                </a:moveTo>
                <a:lnTo>
                  <a:pt x="8456138" y="0"/>
                </a:lnTo>
                <a:lnTo>
                  <a:pt x="8456138" y="3705077"/>
                </a:lnTo>
                <a:lnTo>
                  <a:pt x="0" y="3705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20" t="0" r="-2133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45311" y="2110361"/>
            <a:ext cx="6798689" cy="231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1"/>
              </a:lnSpc>
            </a:pPr>
            <a:r>
              <a:rPr lang="en-US" b="true" sz="6214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HASIL DEPLOYMENT APLIKASI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5311" y="5217269"/>
            <a:ext cx="6134403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DevOps Task Manager berhasil diakses dan berjalan dengan status "Terkoneksi ke VPS". Pipeline deployment GitHub Actions aktif mengotomatisasi proses deployment.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5311" y="7372808"/>
            <a:ext cx="6134403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Aplikasi KadoIn live di VPS Ubuntu dengan Nginx. Semua fitur utama termasuk katalog produk, keranjang belanja, dan sistem autentikasi berfungsi optimal.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5069" y="6898808"/>
            <a:ext cx="4058558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FITUR UTAMA BERJALAN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5069" y="4739787"/>
            <a:ext cx="42019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STATUS DEPLOYMENT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00232" y="4545485"/>
            <a:ext cx="8367556" cy="4178462"/>
          </a:xfrm>
          <a:custGeom>
            <a:avLst/>
            <a:gdLst/>
            <a:ahLst/>
            <a:cxnLst/>
            <a:rect r="r" b="b" t="t" l="l"/>
            <a:pathLst>
              <a:path h="4178462" w="8367556">
                <a:moveTo>
                  <a:pt x="0" y="0"/>
                </a:moveTo>
                <a:lnTo>
                  <a:pt x="8367555" y="0"/>
                </a:lnTo>
                <a:lnTo>
                  <a:pt x="8367555" y="4178461"/>
                </a:lnTo>
                <a:lnTo>
                  <a:pt x="0" y="4178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45311" y="2110361"/>
            <a:ext cx="6798689" cy="15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1"/>
              </a:lnSpc>
            </a:pPr>
            <a:r>
              <a:rPr lang="en-US" b="true" sz="6214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CI/CD DENGAN GITHUB ACTIONS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5311" y="5207744"/>
            <a:ext cx="6134403" cy="10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Mengotomatisasi proses deployment dari repository ke server produksi, mengurangi human error, dan mempercepat release cycle.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5311" y="7363283"/>
            <a:ext cx="6134403" cy="10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GitHub, GitHub Actions, SSH, VPS Ubuntu, Nginx. File deploy.yml mendefinisikan pipeline otomatis saat push ke branch main.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5069" y="6898808"/>
            <a:ext cx="4058558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TOOLS &amp; WORKFLOW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5069" y="4739787"/>
            <a:ext cx="42019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TUJUAN OTOMATISASI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4217374"/>
            <a:ext cx="8525879" cy="5040926"/>
          </a:xfrm>
          <a:custGeom>
            <a:avLst/>
            <a:gdLst/>
            <a:ahLst/>
            <a:cxnLst/>
            <a:rect r="r" b="b" t="t" l="l"/>
            <a:pathLst>
              <a:path h="5040926" w="8525879">
                <a:moveTo>
                  <a:pt x="0" y="0"/>
                </a:moveTo>
                <a:lnTo>
                  <a:pt x="8525879" y="0"/>
                </a:lnTo>
                <a:lnTo>
                  <a:pt x="8525879" y="5040926"/>
                </a:lnTo>
                <a:lnTo>
                  <a:pt x="0" y="504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45311" y="2148461"/>
            <a:ext cx="6798689" cy="223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78"/>
              </a:lnSpc>
            </a:pPr>
            <a:r>
              <a:rPr lang="en-US" b="true" sz="8700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 BRANCHING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5311" y="5198219"/>
            <a:ext cx="6134403" cy="13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Branch main: produksi (deployment live)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Branch develop: staging (pengujian)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Aturan: PR wajib sebelum merge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Fitur dikembangkan di develop terlebih dahulu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5311" y="7353758"/>
            <a:ext cx="6134403" cy="13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dashboard-rrdivana (Divana)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devi-modal-logout-pembeli (Devi)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raisa-login (Raisa)</a:t>
            </a:r>
          </a:p>
          <a:p>
            <a:pPr algn="l" marL="0" indent="0" lvl="0">
              <a:lnSpc>
                <a:spcPts val="2739"/>
              </a:lnSpc>
            </a:pPr>
            <a:r>
              <a:rPr lang="en-US" b="true" sz="195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tambah_show/hide_password (Azizah)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5069" y="6898808"/>
            <a:ext cx="4058558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CONTOH BRANCH FITUR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5069" y="4739787"/>
            <a:ext cx="42019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 BRANCHING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9318" y="4671154"/>
            <a:ext cx="5590037" cy="3086100"/>
            <a:chOff x="0" y="0"/>
            <a:chExt cx="147227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9059" y="4671154"/>
            <a:ext cx="5590037" cy="3086100"/>
            <a:chOff x="0" y="0"/>
            <a:chExt cx="147227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48904" y="4671154"/>
            <a:ext cx="5590037" cy="3086100"/>
            <a:chOff x="0" y="0"/>
            <a:chExt cx="147227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94686" y="1431612"/>
            <a:ext cx="3242077" cy="1167148"/>
          </a:xfrm>
          <a:custGeom>
            <a:avLst/>
            <a:gdLst/>
            <a:ahLst/>
            <a:cxnLst/>
            <a:rect r="r" b="b" t="t" l="l"/>
            <a:pathLst>
              <a:path h="1167148" w="3242077">
                <a:moveTo>
                  <a:pt x="0" y="0"/>
                </a:moveTo>
                <a:lnTo>
                  <a:pt x="3242077" y="0"/>
                </a:lnTo>
                <a:lnTo>
                  <a:pt x="3242077" y="1167148"/>
                </a:lnTo>
                <a:lnTo>
                  <a:pt x="0" y="116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3849387" y="8091152"/>
            <a:ext cx="3242077" cy="1167148"/>
          </a:xfrm>
          <a:custGeom>
            <a:avLst/>
            <a:gdLst/>
            <a:ahLst/>
            <a:cxnLst/>
            <a:rect r="r" b="b" t="t" l="l"/>
            <a:pathLst>
              <a:path h="1167148" w="3242077">
                <a:moveTo>
                  <a:pt x="3242078" y="0"/>
                </a:moveTo>
                <a:lnTo>
                  <a:pt x="0" y="0"/>
                </a:lnTo>
                <a:lnTo>
                  <a:pt x="0" y="1167148"/>
                </a:lnTo>
                <a:lnTo>
                  <a:pt x="3242078" y="1167148"/>
                </a:lnTo>
                <a:lnTo>
                  <a:pt x="3242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92198" y="1834664"/>
            <a:ext cx="6703603" cy="88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95"/>
              </a:lnSpc>
            </a:pPr>
            <a:r>
              <a:rPr lang="en-US" b="true" sz="659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ALUR KERJA TIM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30123" y="5682946"/>
            <a:ext cx="4828425" cy="10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Review dan Approve</a:t>
            </a:r>
          </a:p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Merge ke develop</a:t>
            </a:r>
          </a:p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Pengujian di staging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864" y="5682946"/>
            <a:ext cx="4828425" cy="10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Branch fitur dari develop</a:t>
            </a:r>
          </a:p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Pengembangan fitur</a:t>
            </a:r>
          </a:p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Push dan PR ke develop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29710" y="5682946"/>
            <a:ext cx="4828425" cy="10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Merge develop ke main</a:t>
            </a:r>
          </a:p>
          <a:p>
            <a:pPr algn="ctr" marL="431807" indent="-215904" lvl="1">
              <a:lnSpc>
                <a:spcPts val="2800"/>
              </a:lnSpc>
              <a:buAutoNum type="arabicPeriod" startAt="1"/>
            </a:pPr>
            <a:r>
              <a:rPr lang="en-US" b="true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Deployment otomatis via GitHub Actions ke VPS produksi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6794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FASE REVIEW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35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FASE PENGEMBANGAN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96381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FASE DEPLOYMENT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36763" y="3293822"/>
            <a:ext cx="8785269" cy="69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b="true" sz="2000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Langkah-langkah sistematis dalam kolaborasi tim DevOps untuk pengembangan dan deployment aplikasi KadoIn.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06743" y="807353"/>
            <a:ext cx="6729923" cy="5203370"/>
            <a:chOff x="0" y="0"/>
            <a:chExt cx="8973231" cy="693782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7325" t="0" r="28868" b="0"/>
            <a:stretch>
              <a:fillRect/>
            </a:stretch>
          </p:blipFill>
          <p:spPr>
            <a:xfrm flipH="false" flipV="false">
              <a:off x="0" y="0"/>
              <a:ext cx="4423116" cy="3405414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5580" t="0" r="15580" b="0"/>
            <a:stretch>
              <a:fillRect/>
            </a:stretch>
          </p:blipFill>
          <p:spPr>
            <a:xfrm flipH="false" flipV="false">
              <a:off x="4550116" y="0"/>
              <a:ext cx="4423116" cy="3405414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6516" t="0" r="29677" b="0"/>
            <a:stretch>
              <a:fillRect/>
            </a:stretch>
          </p:blipFill>
          <p:spPr>
            <a:xfrm flipH="false" flipV="false">
              <a:off x="0" y="3532414"/>
              <a:ext cx="4423116" cy="3405414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0" r="0" b="495"/>
            <a:stretch>
              <a:fillRect/>
            </a:stretch>
          </p:blipFill>
          <p:spPr>
            <a:xfrm flipH="false" flipV="false">
              <a:off x="4550116" y="3532414"/>
              <a:ext cx="4423116" cy="3405414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606743" y="6286948"/>
            <a:ext cx="6652557" cy="3309647"/>
          </a:xfrm>
          <a:custGeom>
            <a:avLst/>
            <a:gdLst/>
            <a:ahLst/>
            <a:cxnLst/>
            <a:rect r="r" b="b" t="t" l="l"/>
            <a:pathLst>
              <a:path h="3309647" w="6652557">
                <a:moveTo>
                  <a:pt x="0" y="0"/>
                </a:moveTo>
                <a:lnTo>
                  <a:pt x="6652557" y="0"/>
                </a:lnTo>
                <a:lnTo>
                  <a:pt x="6652557" y="3309647"/>
                </a:lnTo>
                <a:lnTo>
                  <a:pt x="0" y="3309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334486"/>
            <a:ext cx="6798689" cy="17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72"/>
              </a:lnSpc>
            </a:pPr>
            <a:r>
              <a:rPr lang="en-US" b="true" sz="677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PULL REQUEST &amp; CODE REVIEW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945702"/>
            <a:ext cx="6798689" cy="1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1"/>
              </a:lnSpc>
            </a:pPr>
            <a:r>
              <a:rPr lang="en-US" b="true" sz="2215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Menjaga kualitas kode dan konsistensi standar tim. Deteksi bug, error, dan konflik sebelum merge. Memastikan fitur berfungsi sesuai requirement.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334661"/>
            <a:ext cx="6798689" cy="116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1"/>
              </a:lnSpc>
            </a:pPr>
            <a:r>
              <a:rPr lang="en-US" b="true" sz="2215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Langkah: Buat PR → Review → Approve → Merge. Bukti keberhasilan: 17 Pull Request berhasil di-merge dengan status approved oleh reviewer.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6012" y="6819888"/>
            <a:ext cx="4498054" cy="41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1"/>
              </a:lnSpc>
            </a:pPr>
            <a:r>
              <a:rPr lang="en-US" b="true" sz="2436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PROSES &amp; HASIL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6012" y="4427070"/>
            <a:ext cx="4657003" cy="41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1"/>
              </a:lnSpc>
            </a:pPr>
            <a:r>
              <a:rPr lang="en-US" b="true" sz="2436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TUJUAN CODE REVIEW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6439" y="9874554"/>
            <a:ext cx="9010505" cy="824891"/>
            <a:chOff x="0" y="0"/>
            <a:chExt cx="2373137" cy="217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93460" y="-412446"/>
            <a:ext cx="9010505" cy="824891"/>
            <a:chOff x="0" y="0"/>
            <a:chExt cx="2373137" cy="217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682283" y="4040568"/>
            <a:ext cx="10180941" cy="5217732"/>
          </a:xfrm>
          <a:custGeom>
            <a:avLst/>
            <a:gdLst/>
            <a:ahLst/>
            <a:cxnLst/>
            <a:rect r="r" b="b" t="t" l="l"/>
            <a:pathLst>
              <a:path h="5217732" w="10180941">
                <a:moveTo>
                  <a:pt x="0" y="0"/>
                </a:moveTo>
                <a:lnTo>
                  <a:pt x="10180942" y="0"/>
                </a:lnTo>
                <a:lnTo>
                  <a:pt x="10180942" y="5217732"/>
                </a:lnTo>
                <a:lnTo>
                  <a:pt x="0" y="52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6712" y="1968467"/>
            <a:ext cx="6798689" cy="190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7"/>
              </a:lnSpc>
            </a:pPr>
            <a:r>
              <a:rPr lang="en-US" b="true" sz="7486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KONTRIBUSI ANGGOTA TIM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5083919"/>
            <a:ext cx="6134403" cy="1286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7"/>
              </a:lnSpc>
            </a:pPr>
            <a:r>
              <a:rPr lang="en-US" b="true" sz="1862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Divana: 2 commits (dashboard-rrdivana)</a:t>
            </a:r>
          </a:p>
          <a:p>
            <a:pPr algn="l" marL="0" indent="0" lvl="0">
              <a:lnSpc>
                <a:spcPts val="2607"/>
              </a:lnSpc>
            </a:pPr>
            <a:r>
              <a:rPr lang="en-US" b="true" sz="1862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Devi: 2 commits (devi-modal-logout-pembeli)</a:t>
            </a:r>
          </a:p>
          <a:p>
            <a:pPr algn="l" marL="0" indent="0" lvl="0">
              <a:lnSpc>
                <a:spcPts val="2607"/>
              </a:lnSpc>
            </a:pPr>
            <a:r>
              <a:rPr lang="en-US" b="true" sz="1862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Raisa: 17 commits (raisa-login)</a:t>
            </a:r>
          </a:p>
          <a:p>
            <a:pPr algn="l" marL="0" indent="0" lvl="0">
              <a:lnSpc>
                <a:spcPts val="2607"/>
              </a:lnSpc>
            </a:pPr>
            <a:r>
              <a:rPr lang="en-US" b="true" sz="1862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Azizah: 7 commits (tambah_show/hide_password)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7239458"/>
            <a:ext cx="6134403" cy="96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7"/>
              </a:lnSpc>
            </a:pPr>
            <a:r>
              <a:rPr lang="en-US" b="true" sz="1862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Setiap anggota tim berkontribusi aktif melalui branch fitur masing-masing dengan pull request yang ter-review sebelum merge.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2258" y="6774983"/>
            <a:ext cx="4058558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TOTAL: 28 COMMITS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2258" y="4615962"/>
            <a:ext cx="42019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RINGKASAN KONTRIBUSI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11861" y="1779123"/>
            <a:ext cx="6507554" cy="6728754"/>
            <a:chOff x="0" y="0"/>
            <a:chExt cx="58956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9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9560">
                  <a:moveTo>
                    <a:pt x="38636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89560" y="609600"/>
                  </a:lnTo>
                  <a:lnTo>
                    <a:pt x="386360" y="0"/>
                  </a:lnTo>
                  <a:close/>
                </a:path>
              </a:pathLst>
            </a:custGeom>
            <a:blipFill>
              <a:blip r:embed="rId2"/>
              <a:stretch>
                <a:fillRect l="-1699" t="0" r="-169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78837" y="1779123"/>
            <a:ext cx="6507554" cy="6728754"/>
            <a:chOff x="0" y="0"/>
            <a:chExt cx="58956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9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9560">
                  <a:moveTo>
                    <a:pt x="38636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89560" y="609600"/>
                  </a:lnTo>
                  <a:lnTo>
                    <a:pt x="386360" y="0"/>
                  </a:lnTo>
                  <a:close/>
                </a:path>
              </a:pathLst>
            </a:custGeom>
            <a:blipFill>
              <a:blip r:embed="rId3"/>
              <a:stretch>
                <a:fillRect l="-1699" t="0" r="-169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58845" y="6319646"/>
            <a:ext cx="715413" cy="652369"/>
          </a:xfrm>
          <a:custGeom>
            <a:avLst/>
            <a:gdLst/>
            <a:ahLst/>
            <a:cxnLst/>
            <a:rect r="r" b="b" t="t" l="l"/>
            <a:pathLst>
              <a:path h="652369" w="715413">
                <a:moveTo>
                  <a:pt x="0" y="0"/>
                </a:moveTo>
                <a:lnTo>
                  <a:pt x="715413" y="0"/>
                </a:lnTo>
                <a:lnTo>
                  <a:pt x="715413" y="652369"/>
                </a:lnTo>
                <a:lnTo>
                  <a:pt x="0" y="652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29604" y="7977367"/>
            <a:ext cx="803264" cy="800126"/>
          </a:xfrm>
          <a:custGeom>
            <a:avLst/>
            <a:gdLst/>
            <a:ahLst/>
            <a:cxnLst/>
            <a:rect r="r" b="b" t="t" l="l"/>
            <a:pathLst>
              <a:path h="800126" w="803264">
                <a:moveTo>
                  <a:pt x="0" y="0"/>
                </a:moveTo>
                <a:lnTo>
                  <a:pt x="803264" y="0"/>
                </a:lnTo>
                <a:lnTo>
                  <a:pt x="803264" y="800126"/>
                </a:lnTo>
                <a:lnTo>
                  <a:pt x="0" y="800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03713" y="7134419"/>
            <a:ext cx="1034487" cy="637817"/>
          </a:xfrm>
          <a:custGeom>
            <a:avLst/>
            <a:gdLst/>
            <a:ahLst/>
            <a:cxnLst/>
            <a:rect r="r" b="b" t="t" l="l"/>
            <a:pathLst>
              <a:path h="637817" w="1034487">
                <a:moveTo>
                  <a:pt x="0" y="0"/>
                </a:moveTo>
                <a:lnTo>
                  <a:pt x="1034487" y="0"/>
                </a:lnTo>
                <a:lnTo>
                  <a:pt x="1034487" y="637817"/>
                </a:lnTo>
                <a:lnTo>
                  <a:pt x="0" y="637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005051" y="8905964"/>
            <a:ext cx="2206951" cy="704673"/>
          </a:xfrm>
          <a:custGeom>
            <a:avLst/>
            <a:gdLst/>
            <a:ahLst/>
            <a:cxnLst/>
            <a:rect r="r" b="b" t="t" l="l"/>
            <a:pathLst>
              <a:path h="704673" w="2206951">
                <a:moveTo>
                  <a:pt x="0" y="0"/>
                </a:moveTo>
                <a:lnTo>
                  <a:pt x="2206951" y="0"/>
                </a:lnTo>
                <a:lnTo>
                  <a:pt x="2206951" y="704672"/>
                </a:lnTo>
                <a:lnTo>
                  <a:pt x="0" y="704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29428" y="1884191"/>
            <a:ext cx="7014572" cy="161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74"/>
              </a:lnSpc>
            </a:pPr>
            <a:r>
              <a:rPr lang="en-US" b="true" sz="6355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DESKRIPSI APLIKASI KADOIN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9428" y="4288244"/>
            <a:ext cx="6574487" cy="79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150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Platform e-commerce untuk hampers, buket bunga, dan kado. Dibangun dengan PHP, MySQL, dan Nginx. Memudahkan pembelian hadiah sekaligus mendukung UMKM lokal.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3777" y="6684385"/>
            <a:ext cx="2248996" cy="26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150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PHP, MySQL, Nginx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02144" y="7488315"/>
            <a:ext cx="3515267" cy="26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150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VPS Ubuntu + CI/CD GitHub Actions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02144" y="8409419"/>
            <a:ext cx="3515267" cy="53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9"/>
              </a:lnSpc>
            </a:pPr>
            <a:r>
              <a:rPr lang="en-US" b="true" sz="150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Pembelian hadiah &amp; dukungan UMKM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90084" y="6246709"/>
            <a:ext cx="210587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Teknologi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90084" y="7113702"/>
            <a:ext cx="176969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Deployment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02144" y="8028476"/>
            <a:ext cx="136628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Tujuan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9318" y="4671154"/>
            <a:ext cx="5590037" cy="3086100"/>
            <a:chOff x="0" y="0"/>
            <a:chExt cx="147227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9059" y="4671154"/>
            <a:ext cx="5590037" cy="3086100"/>
            <a:chOff x="0" y="0"/>
            <a:chExt cx="147227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48904" y="4671154"/>
            <a:ext cx="5590037" cy="3086100"/>
            <a:chOff x="0" y="0"/>
            <a:chExt cx="147227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94686" y="1431612"/>
            <a:ext cx="3242077" cy="1167148"/>
          </a:xfrm>
          <a:custGeom>
            <a:avLst/>
            <a:gdLst/>
            <a:ahLst/>
            <a:cxnLst/>
            <a:rect r="r" b="b" t="t" l="l"/>
            <a:pathLst>
              <a:path h="1167148" w="3242077">
                <a:moveTo>
                  <a:pt x="0" y="0"/>
                </a:moveTo>
                <a:lnTo>
                  <a:pt x="3242077" y="0"/>
                </a:lnTo>
                <a:lnTo>
                  <a:pt x="3242077" y="1167148"/>
                </a:lnTo>
                <a:lnTo>
                  <a:pt x="0" y="116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3849387" y="8091152"/>
            <a:ext cx="3242077" cy="1167148"/>
          </a:xfrm>
          <a:custGeom>
            <a:avLst/>
            <a:gdLst/>
            <a:ahLst/>
            <a:cxnLst/>
            <a:rect r="r" b="b" t="t" l="l"/>
            <a:pathLst>
              <a:path h="1167148" w="3242077">
                <a:moveTo>
                  <a:pt x="3242078" y="0"/>
                </a:moveTo>
                <a:lnTo>
                  <a:pt x="0" y="0"/>
                </a:lnTo>
                <a:lnTo>
                  <a:pt x="0" y="1167148"/>
                </a:lnTo>
                <a:lnTo>
                  <a:pt x="3242078" y="1167148"/>
                </a:lnTo>
                <a:lnTo>
                  <a:pt x="3242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92198" y="1787039"/>
            <a:ext cx="6703603" cy="129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4"/>
              </a:lnSpc>
            </a:pPr>
            <a:r>
              <a:rPr lang="en-US" b="true" sz="5036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FITUR UTAMA APLIKASI KADOIN (1)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30123" y="5692471"/>
            <a:ext cx="4828425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 pendaftaran akun baru dengan validasi input lengkap untuk memastikan data pengguna terisi dengan benar dan valid.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864" y="5692471"/>
            <a:ext cx="4828425" cy="173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Sistem verifikasi kredensial pengguna dengan fitur show/hide password untuk keamanan dan kenyamanan saat memasukkan kata sandi.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29710" y="5692471"/>
            <a:ext cx="4828425" cy="173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Katalog produk lengkap dengan fitur pencarian dan filter kategori untuk memudahkan pelanggan menemukan hadiah yang diinginkan.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6794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HALAMAN REGISTER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35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HALAMAN LOGIN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96381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HALAMAN PRODUK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36763" y="3303347"/>
            <a:ext cx="8785269" cy="68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Tiga fitur utama yang menjadi fondasi pengalaman pengguna aplikasi KadoIn untuk kemudahan akses dan navigasi.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9318" y="4671154"/>
            <a:ext cx="5590037" cy="3086100"/>
            <a:chOff x="0" y="0"/>
            <a:chExt cx="147227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9059" y="4671154"/>
            <a:ext cx="5590037" cy="3086100"/>
            <a:chOff x="0" y="0"/>
            <a:chExt cx="147227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48904" y="4671154"/>
            <a:ext cx="5590037" cy="3086100"/>
            <a:chOff x="0" y="0"/>
            <a:chExt cx="147227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94686" y="1431612"/>
            <a:ext cx="3242077" cy="1167148"/>
          </a:xfrm>
          <a:custGeom>
            <a:avLst/>
            <a:gdLst/>
            <a:ahLst/>
            <a:cxnLst/>
            <a:rect r="r" b="b" t="t" l="l"/>
            <a:pathLst>
              <a:path h="1167148" w="3242077">
                <a:moveTo>
                  <a:pt x="0" y="0"/>
                </a:moveTo>
                <a:lnTo>
                  <a:pt x="3242077" y="0"/>
                </a:lnTo>
                <a:lnTo>
                  <a:pt x="3242077" y="1167148"/>
                </a:lnTo>
                <a:lnTo>
                  <a:pt x="0" y="116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3849387" y="8091152"/>
            <a:ext cx="3242077" cy="1167148"/>
          </a:xfrm>
          <a:custGeom>
            <a:avLst/>
            <a:gdLst/>
            <a:ahLst/>
            <a:cxnLst/>
            <a:rect r="r" b="b" t="t" l="l"/>
            <a:pathLst>
              <a:path h="1167148" w="3242077">
                <a:moveTo>
                  <a:pt x="3242078" y="0"/>
                </a:moveTo>
                <a:lnTo>
                  <a:pt x="0" y="0"/>
                </a:lnTo>
                <a:lnTo>
                  <a:pt x="0" y="1167148"/>
                </a:lnTo>
                <a:lnTo>
                  <a:pt x="3242078" y="1167148"/>
                </a:lnTo>
                <a:lnTo>
                  <a:pt x="3242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92198" y="1787039"/>
            <a:ext cx="6703603" cy="129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4"/>
              </a:lnSpc>
            </a:pPr>
            <a:r>
              <a:rPr lang="en-US" b="true" sz="5036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FITUR UTAMA APLIKASI KADOIN (2)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30123" y="5692471"/>
            <a:ext cx="4828425" cy="173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Input alamat pengiriman lengkap, ringkasan pesanan yang jelas, dan kalkulasi ongkos kirim otomatis untuk proses pembelian yang transparan.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9864" y="5692471"/>
            <a:ext cx="4828425" cy="173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Menyimpan produk pilihan pengguna, mengubah jumlah item dengan mudah, dan menampilkan subtotal secara real-time untuk kemudahan transaksi.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29710" y="5692471"/>
            <a:ext cx="4828425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Modal konfirmasi logout untuk mencegah keluar tidak sengaja dan menjaga keamanan sesi pengguna pada aplikasi.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6794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CHECKOUT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35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KERANJANG BELANJA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96381" y="4986426"/>
            <a:ext cx="4295084" cy="34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6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LOGOUT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36763" y="3303347"/>
            <a:ext cx="8785269" cy="68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Lanjutan fitur-fitur utama yang mendukung pengalaman berbelanja pengguna di platform KadoIn.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9402" y="3001432"/>
            <a:ext cx="8646885" cy="129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4"/>
              </a:lnSpc>
            </a:pPr>
            <a:r>
              <a:rPr lang="en-US" b="true" sz="5036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TAMPILAN HALAMAN LOGIN &amp; REGISTER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134326" y="1741540"/>
            <a:ext cx="3521431" cy="1088442"/>
          </a:xfrm>
          <a:custGeom>
            <a:avLst/>
            <a:gdLst/>
            <a:ahLst/>
            <a:cxnLst/>
            <a:rect r="r" b="b" t="t" l="l"/>
            <a:pathLst>
              <a:path h="1088442" w="3521431">
                <a:moveTo>
                  <a:pt x="0" y="0"/>
                </a:moveTo>
                <a:lnTo>
                  <a:pt x="3521431" y="0"/>
                </a:lnTo>
                <a:lnTo>
                  <a:pt x="3521431" y="1088442"/>
                </a:lnTo>
                <a:lnTo>
                  <a:pt x="0" y="108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54153" y="4804722"/>
            <a:ext cx="6134403" cy="10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Antarmuka login KadoIn dengan fitur verifikasi kredensial pengguna dan tombol show/hide password untuk keamanan input.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54153" y="6937748"/>
            <a:ext cx="6134403" cy="10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 pendaftaran akun baru dengan validasi input untuk nama, email, password, dan konfirmasi password pengguna.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4153" y="6503041"/>
            <a:ext cx="3963687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HALAMAN REGISTER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54153" y="4365340"/>
            <a:ext cx="293777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HALAMAN LOGIN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852812" y="1664653"/>
            <a:ext cx="7938343" cy="3681406"/>
          </a:xfrm>
          <a:custGeom>
            <a:avLst/>
            <a:gdLst/>
            <a:ahLst/>
            <a:cxnLst/>
            <a:rect r="r" b="b" t="t" l="l"/>
            <a:pathLst>
              <a:path h="3681406" w="7938343">
                <a:moveTo>
                  <a:pt x="0" y="0"/>
                </a:moveTo>
                <a:lnTo>
                  <a:pt x="7938343" y="0"/>
                </a:lnTo>
                <a:lnTo>
                  <a:pt x="7938343" y="3681406"/>
                </a:lnTo>
                <a:lnTo>
                  <a:pt x="0" y="3681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852812" y="5849296"/>
            <a:ext cx="7797835" cy="3557762"/>
          </a:xfrm>
          <a:custGeom>
            <a:avLst/>
            <a:gdLst/>
            <a:ahLst/>
            <a:cxnLst/>
            <a:rect r="r" b="b" t="t" l="l"/>
            <a:pathLst>
              <a:path h="3557762" w="7797835">
                <a:moveTo>
                  <a:pt x="0" y="0"/>
                </a:moveTo>
                <a:lnTo>
                  <a:pt x="7797836" y="0"/>
                </a:lnTo>
                <a:lnTo>
                  <a:pt x="7797836" y="3557763"/>
                </a:lnTo>
                <a:lnTo>
                  <a:pt x="0" y="3557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9402" y="3001432"/>
            <a:ext cx="8646885" cy="129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4"/>
              </a:lnSpc>
            </a:pPr>
            <a:r>
              <a:rPr lang="en-US" b="true" sz="5036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TAMPILAN PRODUK &amp; KERANJANG BELANJA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134326" y="1741540"/>
            <a:ext cx="3521431" cy="1088442"/>
          </a:xfrm>
          <a:custGeom>
            <a:avLst/>
            <a:gdLst/>
            <a:ahLst/>
            <a:cxnLst/>
            <a:rect r="r" b="b" t="t" l="l"/>
            <a:pathLst>
              <a:path h="1088442" w="3521431">
                <a:moveTo>
                  <a:pt x="0" y="0"/>
                </a:moveTo>
                <a:lnTo>
                  <a:pt x="3521431" y="0"/>
                </a:lnTo>
                <a:lnTo>
                  <a:pt x="3521431" y="1088442"/>
                </a:lnTo>
                <a:lnTo>
                  <a:pt x="0" y="108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67692" y="4804722"/>
            <a:ext cx="6134403" cy="132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</a:pPr>
            <a:r>
              <a:rPr lang="en-US" b="true" sz="1925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Menampilkan katalog lengkap produk hampers, buket bunga, dan kado dengan fitur pencarian dan filter kategori untuk memudahkan pelanggan menemukan hadiah yang diinginkan.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67692" y="6937748"/>
            <a:ext cx="6134403" cy="132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</a:pPr>
            <a:r>
              <a:rPr lang="en-US" b="true" sz="1925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Menyimpan produk pilihan pelanggan dengan kemampuan mengubah jumlah item, menampilkan subtotal per produk, dan kalkulasi total belanja secara real-time.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67692" y="6503041"/>
            <a:ext cx="3963687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KERANJANG BELANJA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7692" y="4365340"/>
            <a:ext cx="293777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HALAMAN PRODUK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944416" y="1934979"/>
            <a:ext cx="7634712" cy="3550141"/>
          </a:xfrm>
          <a:custGeom>
            <a:avLst/>
            <a:gdLst/>
            <a:ahLst/>
            <a:cxnLst/>
            <a:rect r="r" b="b" t="t" l="l"/>
            <a:pathLst>
              <a:path h="3550141" w="7634712">
                <a:moveTo>
                  <a:pt x="0" y="0"/>
                </a:moveTo>
                <a:lnTo>
                  <a:pt x="7634711" y="0"/>
                </a:lnTo>
                <a:lnTo>
                  <a:pt x="7634711" y="3550141"/>
                </a:lnTo>
                <a:lnTo>
                  <a:pt x="0" y="3550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01850" y="5755657"/>
            <a:ext cx="8119844" cy="3724978"/>
          </a:xfrm>
          <a:custGeom>
            <a:avLst/>
            <a:gdLst/>
            <a:ahLst/>
            <a:cxnLst/>
            <a:rect r="r" b="b" t="t" l="l"/>
            <a:pathLst>
              <a:path h="3724978" w="8119844">
                <a:moveTo>
                  <a:pt x="0" y="0"/>
                </a:moveTo>
                <a:lnTo>
                  <a:pt x="8119843" y="0"/>
                </a:lnTo>
                <a:lnTo>
                  <a:pt x="8119843" y="3724979"/>
                </a:lnTo>
                <a:lnTo>
                  <a:pt x="0" y="3724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9402" y="2256292"/>
            <a:ext cx="8646885" cy="129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4"/>
              </a:lnSpc>
            </a:pPr>
            <a:r>
              <a:rPr lang="en-US" b="true" sz="5036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TAMPILAN CHECKOUT &amp; SHOW/HIDE PASSWORD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134326" y="996399"/>
            <a:ext cx="3521431" cy="1088442"/>
          </a:xfrm>
          <a:custGeom>
            <a:avLst/>
            <a:gdLst/>
            <a:ahLst/>
            <a:cxnLst/>
            <a:rect r="r" b="b" t="t" l="l"/>
            <a:pathLst>
              <a:path h="1088442" w="3521431">
                <a:moveTo>
                  <a:pt x="0" y="0"/>
                </a:moveTo>
                <a:lnTo>
                  <a:pt x="3521431" y="0"/>
                </a:lnTo>
                <a:lnTo>
                  <a:pt x="3521431" y="1088443"/>
                </a:lnTo>
                <a:lnTo>
                  <a:pt x="0" y="1088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59402" y="4656460"/>
            <a:ext cx="6134403" cy="198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Formulir alamat pengiriman lengkap dengan validasi input. Ringkasan pesanan dan kalkulasi subtotal otomatis. Integrasi perhitungan ongkos kirim real-time.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9402" y="7621665"/>
            <a:ext cx="6134403" cy="198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Toggle visibility password dengan ikon mata interaktif. Meningkatkan user experience saat input kredensial. Implementasi CSS positioning yang responsif.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59402" y="4125121"/>
            <a:ext cx="4937392" cy="39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3"/>
              </a:lnSpc>
            </a:pPr>
            <a:r>
              <a:rPr lang="en-US" b="true" sz="233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HALAMAN CHECKOUT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135454" y="2285761"/>
            <a:ext cx="7757102" cy="3699453"/>
          </a:xfrm>
          <a:custGeom>
            <a:avLst/>
            <a:gdLst/>
            <a:ahLst/>
            <a:cxnLst/>
            <a:rect r="r" b="b" t="t" l="l"/>
            <a:pathLst>
              <a:path h="3699453" w="7757102">
                <a:moveTo>
                  <a:pt x="0" y="0"/>
                </a:moveTo>
                <a:lnTo>
                  <a:pt x="7757101" y="0"/>
                </a:lnTo>
                <a:lnTo>
                  <a:pt x="7757101" y="3699452"/>
                </a:lnTo>
                <a:lnTo>
                  <a:pt x="0" y="369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39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07327" y="6251111"/>
            <a:ext cx="7813355" cy="3623443"/>
          </a:xfrm>
          <a:custGeom>
            <a:avLst/>
            <a:gdLst/>
            <a:ahLst/>
            <a:cxnLst/>
            <a:rect r="r" b="b" t="t" l="l"/>
            <a:pathLst>
              <a:path h="3623443" w="7813355">
                <a:moveTo>
                  <a:pt x="0" y="0"/>
                </a:moveTo>
                <a:lnTo>
                  <a:pt x="7813355" y="0"/>
                </a:lnTo>
                <a:lnTo>
                  <a:pt x="7813355" y="3623443"/>
                </a:lnTo>
                <a:lnTo>
                  <a:pt x="0" y="36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59402" y="7103116"/>
            <a:ext cx="4937392" cy="39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3"/>
              </a:lnSpc>
            </a:pPr>
            <a:r>
              <a:rPr lang="en-US" b="true" sz="233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FITUR</a:t>
            </a:r>
            <a:r>
              <a:rPr lang="en-US" b="true" sz="233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SHOW/HIDE PASSWORD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9402" y="3001432"/>
            <a:ext cx="8646885" cy="129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4"/>
              </a:lnSpc>
            </a:pPr>
            <a:r>
              <a:rPr lang="en-US" b="true" sz="5036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MODAL LOGOUT &amp; BROWSER SECURITY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134326" y="1741540"/>
            <a:ext cx="3521431" cy="1088442"/>
          </a:xfrm>
          <a:custGeom>
            <a:avLst/>
            <a:gdLst/>
            <a:ahLst/>
            <a:cxnLst/>
            <a:rect r="r" b="b" t="t" l="l"/>
            <a:pathLst>
              <a:path h="1088442" w="3521431">
                <a:moveTo>
                  <a:pt x="0" y="0"/>
                </a:moveTo>
                <a:lnTo>
                  <a:pt x="3521431" y="0"/>
                </a:lnTo>
                <a:lnTo>
                  <a:pt x="3521431" y="1088442"/>
                </a:lnTo>
                <a:lnTo>
                  <a:pt x="0" y="108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05751" y="4814247"/>
            <a:ext cx="6134403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Screenshot modal logout dengan konfirmasi "Apakah Anda yakin ingin keluar?" memberikan pengalaman user yang aman dan mencegah logout tidak disengaja.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5751" y="6947273"/>
            <a:ext cx="6134403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Screenshot browser menampilkan status "Connection is secure" dengan sertifikat SSL valid, memastikan data pengguna terenkripsi dan terlindungi.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5751" y="6503041"/>
            <a:ext cx="3963687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BROWSER 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05751" y="4365340"/>
            <a:ext cx="293777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MODAL LOGOUT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493527" y="3933484"/>
            <a:ext cx="7765773" cy="4536546"/>
          </a:xfrm>
          <a:custGeom>
            <a:avLst/>
            <a:gdLst/>
            <a:ahLst/>
            <a:cxnLst/>
            <a:rect r="r" b="b" t="t" l="l"/>
            <a:pathLst>
              <a:path h="4536546" w="7765773">
                <a:moveTo>
                  <a:pt x="0" y="0"/>
                </a:moveTo>
                <a:lnTo>
                  <a:pt x="7765773" y="0"/>
                </a:lnTo>
                <a:lnTo>
                  <a:pt x="7765773" y="4536546"/>
                </a:lnTo>
                <a:lnTo>
                  <a:pt x="0" y="4536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093" t="0" r="-13246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0593" y="1101810"/>
            <a:ext cx="5590037" cy="3086100"/>
            <a:chOff x="0" y="0"/>
            <a:chExt cx="147227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90593" y="4651695"/>
            <a:ext cx="5590037" cy="3086100"/>
            <a:chOff x="0" y="0"/>
            <a:chExt cx="147227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2273" cy="812800"/>
            </a:xfrm>
            <a:custGeom>
              <a:avLst/>
              <a:gdLst/>
              <a:ahLst/>
              <a:cxnLst/>
              <a:rect r="r" b="b" t="t" l="l"/>
              <a:pathLst>
                <a:path h="812800" w="1472273">
                  <a:moveTo>
                    <a:pt x="139285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1392855" y="812800"/>
                  </a:lnTo>
                  <a:cubicBezTo>
                    <a:pt x="1392855" y="769101"/>
                    <a:pt x="1428194" y="733382"/>
                    <a:pt x="1472273" y="733382"/>
                  </a:cubicBezTo>
                  <a:lnTo>
                    <a:pt x="1472273" y="79418"/>
                  </a:lnTo>
                  <a:cubicBezTo>
                    <a:pt x="1428574" y="79418"/>
                    <a:pt x="1392855" y="44079"/>
                    <a:pt x="1392855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8100" y="0"/>
              <a:ext cx="1396073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371759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40410" y="6701945"/>
            <a:ext cx="5501513" cy="3355923"/>
          </a:xfrm>
          <a:custGeom>
            <a:avLst/>
            <a:gdLst/>
            <a:ahLst/>
            <a:cxnLst/>
            <a:rect r="r" b="b" t="t" l="l"/>
            <a:pathLst>
              <a:path h="3355923" w="5501513">
                <a:moveTo>
                  <a:pt x="0" y="0"/>
                </a:moveTo>
                <a:lnTo>
                  <a:pt x="5501513" y="0"/>
                </a:lnTo>
                <a:lnTo>
                  <a:pt x="5501513" y="3355923"/>
                </a:lnTo>
                <a:lnTo>
                  <a:pt x="0" y="3355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999824" y="1886507"/>
            <a:ext cx="8668718" cy="22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54"/>
              </a:lnSpc>
            </a:pPr>
            <a:r>
              <a:rPr lang="en-US" b="true" sz="899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AKSES PUBLIK VIA HTTPS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40410" y="4399208"/>
            <a:ext cx="7132808" cy="103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SSL/TLS terpasang dan dikonfigurasi pada Nginx server, memastikan semua data terenkripsi selama transmisi.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0410" y="5762110"/>
            <a:ext cx="7132808" cy="68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Koneksi terverifikasi valid dengan sertifikat SSL aktif, memberikan keamanan dan kepercayaan pengguna.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71399" y="5673012"/>
            <a:ext cx="4828425" cy="103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Semua traffic HTTP secara otomatis dialihkan ke HTTPS untuk menjamin keamanan komunikasi end-to-end.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71399" y="2130011"/>
            <a:ext cx="4828425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Aplikasi KadoIn dapat diakses secara publik melalui URL https://tokokadoin.my.id dengan koneksi aman.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71399" y="5084069"/>
            <a:ext cx="4828425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KEAMANAN KONEKSI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33683" y="1538229"/>
            <a:ext cx="5303857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URL AKSES PUBLIK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890" y="1547460"/>
            <a:ext cx="6718673" cy="7496744"/>
            <a:chOff x="0" y="0"/>
            <a:chExt cx="780674" cy="871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5407" r="0" b="-54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583299" y="1547460"/>
            <a:ext cx="6718673" cy="7496744"/>
            <a:chOff x="0" y="0"/>
            <a:chExt cx="780674" cy="871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0" t="-5407" r="0" b="-540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28602" y="2345559"/>
            <a:ext cx="7630698" cy="22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54"/>
              </a:lnSpc>
            </a:pPr>
            <a:r>
              <a:rPr lang="en-US" b="true" sz="899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KENDALA DAN SOLUSI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3377" y="5354948"/>
            <a:ext cx="6120009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Masalah koneksi database tidak berhasil saat deployment pertama. Solusi: mengubah konfigurasi config.php dan memperbaiki autentikasi MySQL pada VPS.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3377" y="7387736"/>
            <a:ext cx="6120009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Aplikasi tidak langsung tampil setelah push ke repository. Solusi: menambahkan perintah restart nginx pada file deploy.yml di GitHub Actions workflow.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3377" y="4938058"/>
            <a:ext cx="485902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KENDALA DATABASE CONFIG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3377" y="7043528"/>
            <a:ext cx="4489459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APLIKASI TIDAK MUNCUL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890" y="1547460"/>
            <a:ext cx="6718673" cy="7496744"/>
            <a:chOff x="0" y="0"/>
            <a:chExt cx="780674" cy="871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5407" r="0" b="-54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583299" y="1547460"/>
            <a:ext cx="6718673" cy="7496744"/>
            <a:chOff x="0" y="0"/>
            <a:chExt cx="780674" cy="871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0" t="-5407" r="0" b="-540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97563" y="2300698"/>
            <a:ext cx="7630698" cy="215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922"/>
              </a:lnSpc>
            </a:pPr>
            <a:r>
              <a:rPr lang="en-US" b="true" sz="8428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KENDALA DAN SOLUSI (2)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97563" y="5152335"/>
            <a:ext cx="6120009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Ikon show/hide password tidak berada pada posisi yang tepat di dalam input field, menyebabkan tampilan tidak konsisten di berbagai browser dan ukuran layar.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7563" y="7185123"/>
            <a:ext cx="6120009" cy="13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Penyesuaian CSS dengan position: relative pada container input dan position: absolute pada ikon, ditambah properti right, top, dan transform untuk penempatan presisi.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97563" y="4808126"/>
            <a:ext cx="485902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MASALAH CSS POSITIONING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7563" y="6840914"/>
            <a:ext cx="4489459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SOLUSI IMPLEMENTASI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890" y="1547460"/>
            <a:ext cx="6718673" cy="7496744"/>
            <a:chOff x="0" y="0"/>
            <a:chExt cx="780674" cy="871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5407" r="0" b="-54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583299" y="1547460"/>
            <a:ext cx="6718673" cy="7496744"/>
            <a:chOff x="0" y="0"/>
            <a:chExt cx="780674" cy="871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674" cy="871081"/>
            </a:xfrm>
            <a:custGeom>
              <a:avLst/>
              <a:gdLst/>
              <a:ahLst/>
              <a:cxnLst/>
              <a:rect r="r" b="b" t="t" l="l"/>
              <a:pathLst>
                <a:path h="871081" w="780674">
                  <a:moveTo>
                    <a:pt x="203200" y="0"/>
                  </a:moveTo>
                  <a:lnTo>
                    <a:pt x="780674" y="0"/>
                  </a:lnTo>
                  <a:lnTo>
                    <a:pt x="577474" y="871081"/>
                  </a:lnTo>
                  <a:lnTo>
                    <a:pt x="0" y="87108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0" t="-5407" r="0" b="-540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97563" y="2273475"/>
            <a:ext cx="7630698" cy="22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54"/>
              </a:lnSpc>
            </a:pPr>
            <a:r>
              <a:rPr lang="en-US" b="true" sz="8993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 DAN SARAN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6580" y="5199864"/>
            <a:ext cx="6120009" cy="182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4997" indent="-187499" lvl="1">
              <a:lnSpc>
                <a:spcPts val="2431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DevOps berhasil diimplementasikan lengkap dengan strategi branching dan CI/CD</a:t>
            </a:r>
          </a:p>
          <a:p>
            <a:pPr algn="l" marL="374997" indent="-187499" lvl="1">
              <a:lnSpc>
                <a:spcPts val="2431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Aplikasi KadoIn live dengan SSL aktif dan terenkripsi</a:t>
            </a:r>
          </a:p>
          <a:p>
            <a:pPr algn="l" marL="374997" indent="-187499" lvl="1">
              <a:lnSpc>
                <a:spcPts val="2431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Semua anggota berkontribusi aktif dan PR ter-review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6580" y="7578963"/>
            <a:ext cx="6120009" cy="121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4997" indent="-187499" lvl="1">
              <a:lnSpc>
                <a:spcPts val="2431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Gunakan environment variables untuk konfigurasi</a:t>
            </a:r>
          </a:p>
          <a:p>
            <a:pPr algn="l" marL="374997" indent="-187499" lvl="1">
              <a:lnSpc>
                <a:spcPts val="2431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Branch hotfix untuk perbaikan cepat</a:t>
            </a:r>
          </a:p>
          <a:p>
            <a:pPr algn="l" marL="374997" indent="-187499" lvl="1">
              <a:lnSpc>
                <a:spcPts val="2431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Tambahkan monitoring dan logging (Uptime Kuma, Nginx/PHP logs)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6580" y="4793334"/>
            <a:ext cx="485902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KESIMPULAN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15956" y="7168080"/>
            <a:ext cx="4489459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b="true" sz="2198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SARAN PENGEMBANGAN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013711" y="9874554"/>
            <a:ext cx="9010505" cy="824891"/>
            <a:chOff x="0" y="0"/>
            <a:chExt cx="2373137" cy="217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7593" y="-412446"/>
            <a:ext cx="9010505" cy="824891"/>
            <a:chOff x="0" y="0"/>
            <a:chExt cx="2373137" cy="217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54238" y="1807168"/>
            <a:ext cx="5925311" cy="7021313"/>
            <a:chOff x="0" y="0"/>
            <a:chExt cx="688489" cy="815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8489" cy="815839"/>
            </a:xfrm>
            <a:custGeom>
              <a:avLst/>
              <a:gdLst/>
              <a:ahLst/>
              <a:cxnLst/>
              <a:rect r="r" b="b" t="t" l="l"/>
              <a:pathLst>
                <a:path h="815839" w="688489">
                  <a:moveTo>
                    <a:pt x="485289" y="0"/>
                  </a:moveTo>
                  <a:lnTo>
                    <a:pt x="0" y="0"/>
                  </a:lnTo>
                  <a:lnTo>
                    <a:pt x="203200" y="815839"/>
                  </a:lnTo>
                  <a:lnTo>
                    <a:pt x="688489" y="815839"/>
                  </a:lnTo>
                  <a:lnTo>
                    <a:pt x="485289" y="0"/>
                  </a:lnTo>
                  <a:close/>
                </a:path>
              </a:pathLst>
            </a:custGeom>
            <a:blipFill>
              <a:blip r:embed="rId2"/>
              <a:stretch>
                <a:fillRect l="0" t="-2173" r="0" b="-217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21935" y="1807168"/>
            <a:ext cx="5925311" cy="7021313"/>
            <a:chOff x="0" y="0"/>
            <a:chExt cx="688489" cy="8158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8489" cy="815839"/>
            </a:xfrm>
            <a:custGeom>
              <a:avLst/>
              <a:gdLst/>
              <a:ahLst/>
              <a:cxnLst/>
              <a:rect r="r" b="b" t="t" l="l"/>
              <a:pathLst>
                <a:path h="815839" w="688489">
                  <a:moveTo>
                    <a:pt x="485289" y="0"/>
                  </a:moveTo>
                  <a:lnTo>
                    <a:pt x="0" y="0"/>
                  </a:lnTo>
                  <a:lnTo>
                    <a:pt x="203200" y="815839"/>
                  </a:lnTo>
                  <a:lnTo>
                    <a:pt x="688489" y="815839"/>
                  </a:lnTo>
                  <a:lnTo>
                    <a:pt x="485289" y="0"/>
                  </a:lnTo>
                  <a:close/>
                </a:path>
              </a:pathLst>
            </a:custGeom>
            <a:blipFill>
              <a:blip r:embed="rId3"/>
              <a:stretch>
                <a:fillRect l="0" t="-2173" r="0" b="-217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7184" y="762019"/>
            <a:ext cx="3497407" cy="35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3"/>
              </a:lnSpc>
            </a:pPr>
            <a:r>
              <a:rPr lang="en-US" b="true" sz="2102">
                <a:solidFill>
                  <a:srgbClr val="1800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Kelompok 7 - UJIAN 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212475" y="721771"/>
            <a:ext cx="4046825" cy="613859"/>
            <a:chOff x="0" y="0"/>
            <a:chExt cx="1065830" cy="161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5830" cy="161675"/>
            </a:xfrm>
            <a:custGeom>
              <a:avLst/>
              <a:gdLst/>
              <a:ahLst/>
              <a:cxnLst/>
              <a:rect r="r" b="b" t="t" l="l"/>
              <a:pathLst>
                <a:path h="161675" w="1065830">
                  <a:moveTo>
                    <a:pt x="80837" y="0"/>
                  </a:moveTo>
                  <a:lnTo>
                    <a:pt x="984993" y="0"/>
                  </a:lnTo>
                  <a:cubicBezTo>
                    <a:pt x="1006432" y="0"/>
                    <a:pt x="1026994" y="8517"/>
                    <a:pt x="1042154" y="23677"/>
                  </a:cubicBezTo>
                  <a:cubicBezTo>
                    <a:pt x="1057314" y="38837"/>
                    <a:pt x="1065830" y="59398"/>
                    <a:pt x="1065830" y="80837"/>
                  </a:cubicBezTo>
                  <a:lnTo>
                    <a:pt x="1065830" y="80837"/>
                  </a:lnTo>
                  <a:cubicBezTo>
                    <a:pt x="1065830" y="125483"/>
                    <a:pt x="1029638" y="161675"/>
                    <a:pt x="984993" y="161675"/>
                  </a:cubicBezTo>
                  <a:lnTo>
                    <a:pt x="80837" y="161675"/>
                  </a:lnTo>
                  <a:cubicBezTo>
                    <a:pt x="36192" y="161675"/>
                    <a:pt x="0" y="125483"/>
                    <a:pt x="0" y="80837"/>
                  </a:cubicBezTo>
                  <a:lnTo>
                    <a:pt x="0" y="80837"/>
                  </a:lnTo>
                  <a:cubicBezTo>
                    <a:pt x="0" y="36192"/>
                    <a:pt x="36192" y="0"/>
                    <a:pt x="80837" y="0"/>
                  </a:cubicBezTo>
                  <a:close/>
                </a:path>
              </a:pathLst>
            </a:custGeom>
            <a:ln w="38100" cap="rnd">
              <a:solidFill>
                <a:srgbClr val="1800AD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5830" cy="199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18617" y="3925282"/>
            <a:ext cx="8188275" cy="293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13"/>
              </a:lnSpc>
            </a:pPr>
            <a:r>
              <a:rPr lang="en-US" b="true" sz="11264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TERIMA KASIH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65739" y="1258756"/>
            <a:ext cx="2038063" cy="27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2"/>
              </a:lnSpc>
            </a:pPr>
            <a:r>
              <a:rPr lang="en-US" b="true" sz="1822">
                <a:solidFill>
                  <a:srgbClr val="1800A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KadoIn Project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09132" y="9874554"/>
            <a:ext cx="9010505" cy="824891"/>
            <a:chOff x="0" y="0"/>
            <a:chExt cx="2373137" cy="217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2073077" y="-339932"/>
            <a:ext cx="9010505" cy="824891"/>
            <a:chOff x="0" y="0"/>
            <a:chExt cx="2373137" cy="217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3137" cy="217255"/>
            </a:xfrm>
            <a:custGeom>
              <a:avLst/>
              <a:gdLst/>
              <a:ahLst/>
              <a:cxnLst/>
              <a:rect r="r" b="b" t="t" l="l"/>
              <a:pathLst>
                <a:path h="217255" w="2373137">
                  <a:moveTo>
                    <a:pt x="2169937" y="0"/>
                  </a:moveTo>
                  <a:lnTo>
                    <a:pt x="0" y="0"/>
                  </a:lnTo>
                  <a:lnTo>
                    <a:pt x="203200" y="217255"/>
                  </a:lnTo>
                  <a:lnTo>
                    <a:pt x="2373137" y="217255"/>
                  </a:lnTo>
                  <a:lnTo>
                    <a:pt x="2169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800AD">
                    <a:alpha val="100000"/>
                  </a:srgbClr>
                </a:gs>
                <a:gs pos="100000">
                  <a:srgbClr val="04026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2169937" cy="25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656276" y="2313735"/>
            <a:ext cx="0" cy="6492240"/>
          </a:xfrm>
          <a:prstGeom prst="line">
            <a:avLst/>
          </a:prstGeom>
          <a:ln cap="flat" w="3810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318617" y="1210671"/>
            <a:ext cx="868074" cy="868074"/>
          </a:xfrm>
          <a:custGeom>
            <a:avLst/>
            <a:gdLst/>
            <a:ahLst/>
            <a:cxnLst/>
            <a:rect r="r" b="b" t="t" l="l"/>
            <a:pathLst>
              <a:path h="868074" w="868074">
                <a:moveTo>
                  <a:pt x="0" y="0"/>
                </a:moveTo>
                <a:lnTo>
                  <a:pt x="868074" y="0"/>
                </a:lnTo>
                <a:lnTo>
                  <a:pt x="868074" y="868075"/>
                </a:lnTo>
                <a:lnTo>
                  <a:pt x="0" y="86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DAHKoConYVY</dc:identifier>
  <dcterms:modified xsi:type="dcterms:W3CDTF">2011-08-01T06:04:30Z</dcterms:modified>
  <cp:revision>1</cp:revision>
  <dc:title>Kelompok 7_PPT_Implementasi Siklus Hidup DevOps: KadoIn</dc:title>
</cp:coreProperties>
</file>